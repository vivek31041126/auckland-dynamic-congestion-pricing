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1985" autoAdjust="0"/>
  </p:normalViewPr>
  <p:slideViewPr>
    <p:cSldViewPr snapToGrid="0" snapToObjects="1">
      <p:cViewPr varScale="1">
        <p:scale>
          <a:sx n="68" d="100"/>
          <a:sy n="68" d="100"/>
        </p:scale>
        <p:origin x="284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8753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Good afternoon. Today I will present my MSc project on an AI-driven dynamic congestion pricing framework for Auckland. This work integrates traffic simulation, forecasting models, and economic pricing mechanisms into a unified decision-support framework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Auckland experiences recurring congestion, particularly on major corridors such as SH1 and SH16. Traditional tolling systems use fixed peak periods, which do not respond to real-time traffic conditions. My goal was to develop a predictive congestion pricing mechanism that adjusts tolls dynamically based on forecasted travel time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This project had five objectives: first, simulate corridor traffic; second, forecast short-term travel time; third, design a pricing rule; fourth, estimate </a:t>
            </a:r>
            <a:r>
              <a:rPr lang="en-US" dirty="0" err="1"/>
              <a:t>behavioural</a:t>
            </a:r>
            <a:r>
              <a:rPr lang="en-US" dirty="0"/>
              <a:t> demand response; and finally, evaluate congestion feedback effects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This slide shows the full framework. We begin with SUMO simulation, aggregate travel time at 10-minute intervals, apply forecasting models, compute a congestion index, generate dynamic tolls, model demand response, and finally evaluate congestion feedback. This creates a complete predictive-to-policy loop. “I simulated a 48-hour corridor-level network using SUMO. Travel time was aggregated at 10-minute resolution, resulting in 287 intervals. A free-flow baseline was estimated using the 5th percentile of travel time.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I compared ARIMA, </a:t>
            </a:r>
            <a:r>
              <a:rPr lang="en-US" dirty="0" err="1"/>
              <a:t>XGBoost</a:t>
            </a:r>
            <a:r>
              <a:rPr lang="en-US" dirty="0"/>
              <a:t>, and LSTM. ARIMA and LSTM achieved identical performance with MAE of 0.19 seconds. </a:t>
            </a:r>
            <a:r>
              <a:rPr lang="en-US" dirty="0" err="1"/>
              <a:t>XGBoost</a:t>
            </a:r>
            <a:r>
              <a:rPr lang="en-US" dirty="0"/>
              <a:t> performed slightly worse. This suggests corridor-level aggregation produces a smooth signal well captured by statistical models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congestion index is defined as predicted travel time divided by free-flow travel time. A piecewise toll function activates when congestion exceeds 10% above free-flow and is capped at NZD 6. This ensures fairness and smooth variation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Tolls were applied in approximately 70% of intervals, with an average toll of NZD 2.66. The pricing pattern varied dynamically based on congestion rather than fixed time-of-day definitions.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Using a conservative elasticity of −0.10, we estimated an average demand reduction of 3.7%, with a maximum of 12%. This indicates pricing primarily shifts demand rather than eliminating trips.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When demand reductions were fed back into the congestion model, travel time decreased by an average of 2.96%, with peaks reaching 9.6%. This demonstrates that modest </a:t>
            </a:r>
            <a:r>
              <a:rPr lang="en-US" dirty="0" err="1"/>
              <a:t>behavioural</a:t>
            </a:r>
            <a:r>
              <a:rPr lang="en-US" dirty="0"/>
              <a:t> changes can produce measurable system-level improvements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When demand reductions were fed back into the congestion model, travel time decreased by an average of 2.96%, with peaks reaching 9.6%. This demonstrates that modest </a:t>
            </a:r>
            <a:r>
              <a:rPr lang="en-US" dirty="0" err="1"/>
              <a:t>behavioural</a:t>
            </a:r>
            <a:r>
              <a:rPr lang="en-US" dirty="0"/>
              <a:t> changes can produce measurable system-level improvements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This study is simulation-based, uses assumed elasticity, and models aggregate corridor </a:t>
            </a:r>
            <a:r>
              <a:rPr lang="en-US" dirty="0" err="1"/>
              <a:t>behaviour</a:t>
            </a:r>
            <a:r>
              <a:rPr lang="en-US" dirty="0"/>
              <a:t> rather than heterogeneous users. Future research can integrate real-world data and advanced </a:t>
            </a:r>
            <a:r>
              <a:rPr lang="en-US" dirty="0" err="1"/>
              <a:t>behavioural</a:t>
            </a:r>
            <a:r>
              <a:rPr lang="en-US" dirty="0"/>
              <a:t> modelling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figure shows dynamic toll variation over time based on predicted congestion levels.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full project including code, simulation setup, forecasting models, and pricing engine is available on </a:t>
            </a:r>
            <a:r>
              <a:t>GitHub.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028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15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582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915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665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00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650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459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416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456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7177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071744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7682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728327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1074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8465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278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0195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AI-Driven Dynamic Congestion Pricing Framework for Auckland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Master of Applied Technologies</a:t>
            </a:r>
          </a:p>
          <a:p>
            <a:r>
              <a:rPr dirty="0"/>
              <a:t>Unitec (</a:t>
            </a:r>
            <a:r>
              <a:rPr dirty="0" err="1"/>
              <a:t>Te</a:t>
            </a:r>
            <a:r>
              <a:rPr dirty="0"/>
              <a:t> </a:t>
            </a:r>
            <a:r>
              <a:rPr dirty="0" err="1"/>
              <a:t>Pūkenga</a:t>
            </a:r>
            <a:r>
              <a:rPr dirty="0"/>
              <a:t>), Auckland</a:t>
            </a:r>
          </a:p>
          <a:p>
            <a:r>
              <a:rPr dirty="0"/>
              <a:t>Supervisor: [</a:t>
            </a:r>
            <a:r>
              <a:rPr lang="en-IN" b="1" dirty="0"/>
              <a:t>Dr. Prakash Karn</a:t>
            </a:r>
            <a:r>
              <a:rPr dirty="0"/>
              <a:t>]</a:t>
            </a:r>
          </a:p>
          <a:p>
            <a:r>
              <a:rPr dirty="0"/>
              <a:t>Student:</a:t>
            </a:r>
            <a:r>
              <a:rPr lang="en-IN" b="1" dirty="0"/>
              <a:t>Vivek Tollawala - 1597483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Recurring congestion in Auckland corridors (SH1, SH16)</a:t>
            </a:r>
          </a:p>
          <a:p>
            <a:r>
              <a:t>Static peak/off-peak tolling is inefficient</a:t>
            </a:r>
          </a:p>
          <a:p>
            <a:r>
              <a:t>Need predictive and adaptive congestion pricing</a:t>
            </a:r>
          </a:p>
          <a:p>
            <a:r>
              <a:t>AI-enabled traffic forecasting approach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Simulate corridor traffic using SUMO</a:t>
            </a:r>
          </a:p>
          <a:p>
            <a:r>
              <a:t>Forecast 10-minute travel time (ARIMA, XGBoost, LSTM)</a:t>
            </a:r>
          </a:p>
          <a:p>
            <a:r>
              <a:t>Design dynamic pricing rule</a:t>
            </a:r>
          </a:p>
          <a:p>
            <a:r>
              <a:t>Model behavioural demand response</a:t>
            </a:r>
          </a:p>
          <a:p>
            <a:r>
              <a:t>Evaluate congestion feedback effects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SUMO Simulation (48 hours)</a:t>
            </a:r>
          </a:p>
          <a:p>
            <a:r>
              <a:t>10-minute travel time aggregation</a:t>
            </a:r>
          </a:p>
          <a:p>
            <a:r>
              <a:t>Forecasting models</a:t>
            </a:r>
          </a:p>
          <a:p>
            <a:r>
              <a:t>Dynamic toll computation</a:t>
            </a:r>
          </a:p>
          <a:p>
            <a:r>
              <a:t>Demand response and feedback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Forecasting 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ARIMA – MAE: 0.19 sec | RMSE: 0.25 sec</a:t>
            </a:r>
          </a:p>
          <a:p>
            <a:r>
              <a:t>XGBoost – MAE: 0.25 sec | RMSE: 0.33 sec</a:t>
            </a:r>
          </a:p>
          <a:p>
            <a:r>
              <a:t>LSTM – MAE: 0.19 sec | RMSE: 0.25 sec</a:t>
            </a:r>
          </a:p>
          <a:p>
            <a:r>
              <a:t>ARIMA and LSTM performed equally best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Dynamic Pricing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Congestion Index = TT_pred / TT_free</a:t>
            </a:r>
          </a:p>
          <a:p>
            <a:r>
              <a:t>Free-flow baseline = 5th percentile</a:t>
            </a:r>
          </a:p>
          <a:p>
            <a:r>
              <a:t>Toll activates when CI &gt; 1.10</a:t>
            </a:r>
          </a:p>
          <a:p>
            <a:r>
              <a:t>Capped at NZD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69.6% intervals tolled</a:t>
            </a:r>
          </a:p>
          <a:p>
            <a:r>
              <a:t>Average toll: NZD 2.66</a:t>
            </a:r>
          </a:p>
          <a:p>
            <a:r>
              <a:t>Revenue proxy: NZD 529.47</a:t>
            </a:r>
          </a:p>
          <a:p>
            <a:r>
              <a:t>Adaptive rather than static peak pricing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Behavioural Demand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Elasticity assumed: −0.10</a:t>
            </a:r>
          </a:p>
          <a:p>
            <a:r>
              <a:t>Average demand reduction: 3.70%</a:t>
            </a:r>
          </a:p>
          <a:p>
            <a:r>
              <a:t>Maximum reduction: 12.00%</a:t>
            </a:r>
          </a:p>
          <a:p>
            <a:r>
              <a:t>Demand shifts rather than disappears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Congestion Feedback Effect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Average travel time reduction: 2.96%</a:t>
            </a:r>
          </a:p>
          <a:p>
            <a:r>
              <a:t>Maximum reduction: 9.60%</a:t>
            </a:r>
          </a:p>
          <a:p>
            <a:r>
              <a:t>Small demand changes → measurable relief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Classical models remain competitive</a:t>
            </a:r>
          </a:p>
          <a:p>
            <a:r>
              <a:t>Dynamic pricing &gt; static pricing</a:t>
            </a:r>
          </a:p>
          <a:p>
            <a:r>
              <a:t>Elasticity-driven feedback improves system efficiency</a:t>
            </a:r>
          </a:p>
          <a:p>
            <a:r>
              <a:t>Integrated AI-policy framework feasible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Simulation-based environment</a:t>
            </a:r>
          </a:p>
          <a:p>
            <a:r>
              <a:t>Assumed elasticity parameter</a:t>
            </a:r>
          </a:p>
          <a:p>
            <a:r>
              <a:t>Corridor-level aggregation</a:t>
            </a:r>
          </a:p>
          <a:p>
            <a:r>
              <a:t>Future: real-world calibration, RL optimisation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Figur</a:t>
            </a:r>
            <a:r>
              <a:rPr lang="en-IN" dirty="0"/>
              <a:t>es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337FF6-D5E1-C07C-AB0B-880402953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47" y="256028"/>
            <a:ext cx="4608582" cy="34564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4FC8C05-12E2-996D-0754-A23DE87F01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9" y="3712464"/>
            <a:ext cx="4114806" cy="30861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59269" y="1002268"/>
            <a:ext cx="402546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dirty="0"/>
              <a:t>https://github.com/Vivek31041126</a:t>
            </a:r>
            <a:endParaRPr dirty="0"/>
          </a:p>
        </p:txBody>
      </p:sp>
      <p:pic>
        <p:nvPicPr>
          <p:cNvPr id="4" name="Picture 3" descr="github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399" y="18288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13</TotalTime>
  <Words>792</Words>
  <Application>Microsoft Office PowerPoint</Application>
  <PresentationFormat>On-screen Show (4:3)</PresentationFormat>
  <Paragraphs>83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Century Gothic</vt:lpstr>
      <vt:lpstr>Wingdings 3</vt:lpstr>
      <vt:lpstr>Slice</vt:lpstr>
      <vt:lpstr>AI-Driven Dynamic Congestion Pricing Framework for Auckland</vt:lpstr>
      <vt:lpstr>Research Motivation</vt:lpstr>
      <vt:lpstr>Research Objectives</vt:lpstr>
      <vt:lpstr>System Architecture</vt:lpstr>
      <vt:lpstr>Forecasting Model Performance</vt:lpstr>
      <vt:lpstr>Dynamic Pricing Mechanism</vt:lpstr>
      <vt:lpstr>Pricing Results</vt:lpstr>
      <vt:lpstr>Behavioural Demand Response</vt:lpstr>
      <vt:lpstr>Congestion Feedback Effect</vt:lpstr>
      <vt:lpstr>Key Insights</vt:lpstr>
      <vt:lpstr>Limitations &amp; Future Work</vt:lpstr>
      <vt:lpstr>Figures</vt:lpstr>
      <vt:lpstr>GitHub Repository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vivek tollawala</cp:lastModifiedBy>
  <cp:revision>6</cp:revision>
  <dcterms:created xsi:type="dcterms:W3CDTF">2013-01-27T09:14:16Z</dcterms:created>
  <dcterms:modified xsi:type="dcterms:W3CDTF">2026-02-26T22:20:58Z</dcterms:modified>
  <cp:category/>
</cp:coreProperties>
</file>