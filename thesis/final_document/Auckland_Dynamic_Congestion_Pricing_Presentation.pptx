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692" autoAdjust="0"/>
  </p:normalViewPr>
  <p:slideViewPr>
    <p:cSldViewPr snapToGrid="0" snapToObjects="1">
      <p:cViewPr varScale="1">
        <p:scale>
          <a:sx n="87" d="100"/>
          <a:sy n="87" d="100"/>
        </p:scale>
        <p:origin x="230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534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explains the development of a predictive congestion pricing system using traffic simulation and AI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First, traffic data is generated using SUMO simulation based on the Auckland road network. The simulation outputs edge-level traffic statistics which are extracted and converted into CSV format. These data are processed to compute corridor-level travel time aggregated at 10-minute intervals. The processed time-series is used to train forecasting models including ARIMA, </a:t>
            </a:r>
            <a:r>
              <a:rPr lang="en-US" dirty="0" err="1"/>
              <a:t>XGBoost</a:t>
            </a:r>
            <a:r>
              <a:rPr lang="en-US" dirty="0"/>
              <a:t>, and LSTM. The predicted travel time is then used to compute a congestion index which drives a dynamic pricing mechanism. </a:t>
            </a:r>
            <a:r>
              <a:rPr lang="en-US" dirty="0" err="1"/>
              <a:t>Behavioural</a:t>
            </a:r>
            <a:r>
              <a:rPr lang="en-US" dirty="0"/>
              <a:t> demand response is estimated using elasticity assumptions, and congestion feedback effects are </a:t>
            </a:r>
            <a:r>
              <a:rPr lang="en-US" dirty="0" err="1"/>
              <a:t>analysed</a:t>
            </a:r>
            <a:r>
              <a:rPr lang="en-US" dirty="0"/>
              <a:t>. Finally, the system can be extended with MQTT to support real-time IoT traffic data integration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6548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69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38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9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7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3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3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9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9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5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05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7427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51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5170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55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87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2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647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AI‑Driven Dynamic Congestion Pricing Framework for Auckland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Master of Applied Technologies</a:t>
            </a:r>
          </a:p>
          <a:p>
            <a:r>
              <a:rPr dirty="0"/>
              <a:t>Unitec (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Pūkenga</a:t>
            </a:r>
            <a:r>
              <a:rPr dirty="0"/>
              <a:t>), Auckland</a:t>
            </a:r>
          </a:p>
          <a:p>
            <a:r>
              <a:rPr dirty="0"/>
              <a:t>Student: </a:t>
            </a:r>
            <a:r>
              <a:rPr lang="en-US" dirty="0"/>
              <a:t>Vivek Tollawala 1597483</a:t>
            </a:r>
            <a:endParaRPr dirty="0"/>
          </a:p>
          <a:p>
            <a:r>
              <a:rPr dirty="0"/>
              <a:t>Supervisor:</a:t>
            </a:r>
            <a:r>
              <a:rPr lang="en-US" dirty="0"/>
              <a:t> Dr. Prakash Karn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Recurring congestion on Auckland corridors (SH1, SH16)</a:t>
            </a:r>
          </a:p>
          <a:p>
            <a:r>
              <a:rPr dirty="0"/>
              <a:t>Static tolling does not adapt to real-time traffic</a:t>
            </a:r>
          </a:p>
          <a:p>
            <a:r>
              <a:rPr dirty="0"/>
              <a:t>Need predictive congestion management</a:t>
            </a:r>
          </a:p>
          <a:p>
            <a:r>
              <a:rPr dirty="0"/>
              <a:t>AI forecasting + dynamic pricing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 traffic using SUMO</a:t>
            </a:r>
          </a:p>
          <a:p>
            <a:r>
              <a:t>Forecast travel time using ARIMA, XGBoost, LSTM</a:t>
            </a:r>
          </a:p>
          <a:p>
            <a:r>
              <a:t>Design dynamic congestion pricing rule</a:t>
            </a:r>
          </a:p>
          <a:p>
            <a:r>
              <a:t>Model behavioural demand response</a:t>
            </a:r>
          </a:p>
          <a:p>
            <a:r>
              <a:t>Evaluate congestion feedback effects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SUMO Traffic Simulation (OSM network + demand)</a:t>
            </a:r>
          </a:p>
          <a:p>
            <a:r>
              <a:rPr dirty="0"/>
              <a:t>Data extraction: edge_data.xml → CSV</a:t>
            </a:r>
          </a:p>
          <a:p>
            <a:r>
              <a:rPr dirty="0"/>
              <a:t>Data processing: corridor travel time (10‑min intervals)</a:t>
            </a:r>
          </a:p>
          <a:p>
            <a:r>
              <a:rPr dirty="0"/>
              <a:t>Forecasting models: ARIMA, </a:t>
            </a:r>
            <a:r>
              <a:rPr dirty="0" err="1"/>
              <a:t>XGBoost</a:t>
            </a:r>
            <a:r>
              <a:rPr dirty="0"/>
              <a:t>, LSTM</a:t>
            </a:r>
          </a:p>
          <a:p>
            <a:r>
              <a:rPr dirty="0"/>
              <a:t>Dynamic congestion pricing model</a:t>
            </a:r>
          </a:p>
          <a:p>
            <a:r>
              <a:rPr dirty="0"/>
              <a:t>Demand response modelling</a:t>
            </a:r>
          </a:p>
          <a:p>
            <a:r>
              <a:rPr dirty="0"/>
              <a:t>Congestion feedback analysis</a:t>
            </a:r>
          </a:p>
          <a:p>
            <a:r>
              <a:rPr dirty="0"/>
              <a:t>Future extension: IoT integration via MQTT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&amp; Dataset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48‑hour SUMO traffic simulation</a:t>
            </a:r>
          </a:p>
          <a:p>
            <a:r>
              <a:t>Edge statistics collected every 60 seconds</a:t>
            </a:r>
          </a:p>
          <a:p>
            <a:r>
              <a:t>Aggregated to 10‑minute travel time</a:t>
            </a:r>
          </a:p>
          <a:p>
            <a:r>
              <a:t>Final dataset: 287 observations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 &amp;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split: 80% training / 20% testing</a:t>
            </a:r>
          </a:p>
          <a:p>
            <a:r>
              <a:t>Forecast horizon: 10‑minute ahead travel time</a:t>
            </a:r>
          </a:p>
          <a:p>
            <a:r>
              <a:t>Models compared: ARIMA, XGBoost, LSTM</a:t>
            </a:r>
          </a:p>
          <a:p>
            <a:r>
              <a:t>Evaluation metrics: MAE and RMSE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ARIMA – MAE: 0.19 sec | RMSE: 0.25 sec</a:t>
            </a:r>
          </a:p>
          <a:p>
            <a:r>
              <a:t>XGBoost – MAE: 0.25 sec | RMSE: 0.33 sec</a:t>
            </a:r>
          </a:p>
          <a:p>
            <a:r>
              <a:t>LSTM – MAE: 0.19 sec | RMSE: 0.25 sec</a:t>
            </a:r>
          </a:p>
          <a:p>
            <a:r>
              <a:t>ARIMA and LSTM achieved best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Pricing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Congestion Index = Predicted Travel Time / Free‑Flow Travel Time</a:t>
            </a:r>
          </a:p>
          <a:p>
            <a:r>
              <a:t>Free‑flow baseline estimated using 5th percentile</a:t>
            </a:r>
          </a:p>
          <a:p>
            <a:r>
              <a:t>Toll activates when congestion exceeds threshold</a:t>
            </a:r>
          </a:p>
          <a:p>
            <a:r>
              <a:t>Maximum toll capped for policy realism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69.6% intervals tolled</a:t>
            </a:r>
          </a:p>
          <a:p>
            <a:r>
              <a:t>Average toll: NZD 2.66</a:t>
            </a:r>
          </a:p>
          <a:p>
            <a:r>
              <a:t>Revenue proxy: NZD 529.47</a:t>
            </a:r>
          </a:p>
          <a:p>
            <a:r>
              <a:t>Pricing responds dynamically to congestion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Behavioural Demand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Elasticity assumption: −0.10</a:t>
            </a:r>
          </a:p>
          <a:p>
            <a:r>
              <a:t>Average demand reduction: 3.70%</a:t>
            </a:r>
          </a:p>
          <a:p>
            <a:r>
              <a:t>Maximum reduction: 12.00%</a:t>
            </a:r>
          </a:p>
          <a:p>
            <a:r>
              <a:t>Pricing mainly shifts travel demand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Congestion Feedback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Demand reduction fed back into traffic model</a:t>
            </a:r>
          </a:p>
          <a:p>
            <a:r>
              <a:t>Average travel time reduction: 2.96%</a:t>
            </a:r>
          </a:p>
          <a:p>
            <a:r>
              <a:t>Maximum reduction: 9.60%</a:t>
            </a:r>
          </a:p>
          <a:p>
            <a:r>
              <a:t>Small demand shifts improve congestion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Extension: Real‑Time System with MQTT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Traffic sensors publish speed data via MQTT</a:t>
            </a:r>
          </a:p>
          <a:p>
            <a:r>
              <a:t>Prediction service subscribes to traffic topics</a:t>
            </a:r>
          </a:p>
          <a:p>
            <a:r>
              <a:t>Forecast model predicts congestion</a:t>
            </a:r>
          </a:p>
          <a:p>
            <a:r>
              <a:t>Dynamic pricing engine publishes toll updates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project code and scripts available online</a:t>
            </a:r>
          </a:p>
          <a:p>
            <a:r>
              <a:t>Includes simulation setup, forecasting models, and pricing engine</a:t>
            </a:r>
          </a:p>
          <a:p>
            <a:r>
              <a:t>Link: https://github.com/YOUR_USERNAME/Auckland-Dynamic-Congestion-Pricing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</TotalTime>
  <Words>556</Words>
  <Application>Microsoft Office PowerPoint</Application>
  <PresentationFormat>On-screen Show (4:3)</PresentationFormat>
  <Paragraphs>71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Slice</vt:lpstr>
      <vt:lpstr>AI‑Driven Dynamic Congestion Pricing Framework for Auckland</vt:lpstr>
      <vt:lpstr>Research Motivation</vt:lpstr>
      <vt:lpstr>Research Objectives</vt:lpstr>
      <vt:lpstr>Methodology Pipeline</vt:lpstr>
      <vt:lpstr>Simulation &amp; Dataset Setup</vt:lpstr>
      <vt:lpstr>Experimental Setup &amp; Model Evaluation</vt:lpstr>
      <vt:lpstr>Forecasting Model Performance</vt:lpstr>
      <vt:lpstr>Dynamic Pricing Model</vt:lpstr>
      <vt:lpstr>Pricing Results</vt:lpstr>
      <vt:lpstr>Behavioural Demand Response</vt:lpstr>
      <vt:lpstr>Congestion Feedback Effects</vt:lpstr>
      <vt:lpstr>Future Extension: Real‑Time System with MQTT</vt:lpstr>
      <vt:lpstr>GitHub Repository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 tollawala</cp:lastModifiedBy>
  <cp:revision>4</cp:revision>
  <dcterms:created xsi:type="dcterms:W3CDTF">2013-01-27T09:14:16Z</dcterms:created>
  <dcterms:modified xsi:type="dcterms:W3CDTF">2026-03-14T23:36:59Z</dcterms:modified>
  <cp:category/>
</cp:coreProperties>
</file>